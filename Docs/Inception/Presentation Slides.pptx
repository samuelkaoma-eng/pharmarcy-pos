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5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9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2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0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9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87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6663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6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53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24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87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5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6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5724" y="1447801"/>
            <a:ext cx="6751686" cy="1547647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Group 16</a:t>
            </a:r>
            <a:br>
              <a:rPr lang="en-US" sz="4000" dirty="0"/>
            </a:br>
            <a:r>
              <a:rPr sz="4000" dirty="0"/>
              <a:t>Pharmacy Point of Sale (POS)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724" y="3245497"/>
            <a:ext cx="6257700" cy="443634"/>
          </a:xfrm>
        </p:spPr>
        <p:txBody>
          <a:bodyPr>
            <a:normAutofit fontScale="25000" lnSpcReduction="20000"/>
          </a:bodyPr>
          <a:lstStyle/>
          <a:p>
            <a:r>
              <a:rPr sz="7200" dirty="0"/>
              <a:t>Inception Phase Documentation</a:t>
            </a:r>
          </a:p>
          <a:p>
            <a:endParaRPr dirty="0"/>
          </a:p>
          <a:p>
            <a:endParaRPr dirty="0"/>
          </a:p>
          <a:p>
            <a:r>
              <a:rPr sz="8000" dirty="0"/>
              <a:t>Group Members:</a:t>
            </a:r>
          </a:p>
          <a:p>
            <a:r>
              <a:rPr sz="8000" dirty="0"/>
              <a:t>Samuel Kaoma</a:t>
            </a:r>
          </a:p>
          <a:p>
            <a:r>
              <a:rPr sz="8000" dirty="0"/>
              <a:t>Blessing Yabe</a:t>
            </a:r>
          </a:p>
          <a:p>
            <a:r>
              <a:rPr sz="8000" dirty="0" err="1"/>
              <a:t>Chipego</a:t>
            </a:r>
            <a:r>
              <a:rPr sz="8000" dirty="0"/>
              <a:t> </a:t>
            </a:r>
            <a:r>
              <a:rPr sz="8000" dirty="0" err="1"/>
              <a:t>Mukimba</a:t>
            </a:r>
            <a:endParaRPr sz="8000" dirty="0"/>
          </a:p>
          <a:p>
            <a:r>
              <a:rPr sz="8000" dirty="0"/>
              <a:t>Joshua </a:t>
            </a:r>
            <a:r>
              <a:rPr sz="8000" dirty="0" err="1"/>
              <a:t>Kamunda</a:t>
            </a:r>
            <a:endParaRPr sz="8000" dirty="0"/>
          </a:p>
          <a:p>
            <a:r>
              <a:rPr sz="8000" dirty="0" err="1"/>
              <a:t>Ma</a:t>
            </a:r>
            <a:r>
              <a:rPr lang="en-US" sz="8000" dirty="0" err="1"/>
              <a:t>X</a:t>
            </a:r>
            <a:r>
              <a:rPr sz="8000" dirty="0" err="1"/>
              <a:t>imillan</a:t>
            </a:r>
            <a:r>
              <a:rPr sz="8000" dirty="0"/>
              <a:t> </a:t>
            </a:r>
            <a:r>
              <a:rPr sz="8000" dirty="0" err="1"/>
              <a:t>Soko</a:t>
            </a:r>
            <a:endParaRPr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Provide a computerized solution for managing pharmacy sales and inventory</a:t>
            </a:r>
          </a:p>
          <a:p>
            <a:r>
              <a:rPr dirty="0"/>
              <a:t>• Process customer purchases efficiently</a:t>
            </a:r>
          </a:p>
          <a:p>
            <a:r>
              <a:rPr dirty="0"/>
              <a:t>• Track medicine stock levels in real-time</a:t>
            </a:r>
          </a:p>
          <a:p>
            <a:r>
              <a:rPr dirty="0"/>
              <a:t>• Validate prescriptions before completing sales</a:t>
            </a:r>
          </a:p>
          <a:p>
            <a:r>
              <a:rPr dirty="0"/>
              <a:t>• Generate receipts and daily sales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Manual sales recording and paper-based stock tracking</a:t>
            </a:r>
          </a:p>
          <a:p>
            <a:r>
              <a:rPr dirty="0"/>
              <a:t> Risk of selling expired medicines</a:t>
            </a:r>
          </a:p>
          <a:p>
            <a:r>
              <a:rPr dirty="0"/>
              <a:t> Financial inconsistencies</a:t>
            </a:r>
          </a:p>
          <a:p>
            <a:r>
              <a:rPr dirty="0"/>
              <a:t> Slow checkout processes</a:t>
            </a:r>
          </a:p>
          <a:p>
            <a:r>
              <a:rPr dirty="0"/>
              <a:t> Limited reporting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Benefits:</a:t>
            </a:r>
          </a:p>
          <a:p>
            <a:r>
              <a:rPr dirty="0"/>
              <a:t>• Reduce stock losses</a:t>
            </a:r>
          </a:p>
          <a:p>
            <a:r>
              <a:rPr dirty="0"/>
              <a:t>• Improve accountability</a:t>
            </a:r>
          </a:p>
          <a:p>
            <a:r>
              <a:rPr dirty="0"/>
              <a:t>• Increase checkout speed</a:t>
            </a:r>
          </a:p>
          <a:p>
            <a:r>
              <a:rPr dirty="0"/>
              <a:t>• Support regulatory compliance</a:t>
            </a:r>
            <a:r>
              <a:rPr lang="en-US" dirty="0"/>
              <a:t> </a:t>
            </a:r>
            <a:r>
              <a:rPr lang="en-US" dirty="0" err="1"/>
              <a:t>eg</a:t>
            </a:r>
            <a:r>
              <a:rPr lang="en-US" dirty="0"/>
              <a:t> (ZAMRA)</a:t>
            </a:r>
            <a:endParaRPr dirty="0"/>
          </a:p>
          <a:p>
            <a:endParaRPr dirty="0"/>
          </a:p>
          <a:p>
            <a:r>
              <a:rPr dirty="0"/>
              <a:t>Feasibility: Technically achievable, economically viable,</a:t>
            </a:r>
          </a:p>
          <a:p>
            <a:r>
              <a:rPr dirty="0"/>
              <a:t>operationally practical within a 15-week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43021"/>
            <a:ext cx="6711654" cy="452655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Internal Stakeholders</a:t>
            </a:r>
          </a:p>
          <a:p>
            <a:r>
              <a:rPr lang="en-ZM" dirty="0"/>
              <a:t>•</a:t>
            </a:r>
            <a:r>
              <a:rPr dirty="0"/>
              <a:t> Pharmacy Owner</a:t>
            </a:r>
          </a:p>
          <a:p>
            <a:r>
              <a:rPr dirty="0"/>
              <a:t>• Cashier</a:t>
            </a:r>
            <a:endParaRPr lang="en-US" dirty="0"/>
          </a:p>
          <a:p>
            <a:r>
              <a:rPr lang="en-ZM" dirty="0"/>
              <a:t>• </a:t>
            </a:r>
            <a:r>
              <a:rPr lang="en-US" dirty="0"/>
              <a:t>Inventory store clerk</a:t>
            </a:r>
          </a:p>
          <a:p>
            <a:r>
              <a:rPr dirty="0"/>
              <a:t>• Pharmacist</a:t>
            </a:r>
            <a:endParaRPr lang="en-US" dirty="0"/>
          </a:p>
          <a:p>
            <a:r>
              <a:rPr lang="en-US" dirty="0"/>
              <a:t>• System Administrator</a:t>
            </a:r>
          </a:p>
          <a:p>
            <a:r>
              <a:rPr lang="en-US" b="1" dirty="0"/>
              <a:t>External Stakeholders</a:t>
            </a:r>
          </a:p>
          <a:p>
            <a:r>
              <a:rPr lang="en-US" dirty="0"/>
              <a:t>• Customers/Patients</a:t>
            </a:r>
          </a:p>
          <a:p>
            <a:r>
              <a:rPr lang="en-US" dirty="0"/>
              <a:t>• Regulatory Authority</a:t>
            </a:r>
          </a:p>
          <a:p>
            <a:r>
              <a:rPr lang="en-US" dirty="0"/>
              <a:t>• Payment service providers</a:t>
            </a:r>
          </a:p>
          <a:p>
            <a:r>
              <a:rPr lang="en-US" dirty="0"/>
              <a:t>• Drug distributors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10% High-Level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272" y="1429408"/>
            <a:ext cx="6960466" cy="4214648"/>
          </a:xfrm>
        </p:spPr>
        <p:txBody>
          <a:bodyPr>
            <a:normAutofit/>
          </a:bodyPr>
          <a:lstStyle/>
          <a:p>
            <a:r>
              <a:rPr dirty="0"/>
              <a:t>1. Process Sale</a:t>
            </a:r>
          </a:p>
          <a:p>
            <a:r>
              <a:rPr dirty="0"/>
              <a:t>   - Scan barcode</a:t>
            </a:r>
          </a:p>
          <a:p>
            <a:r>
              <a:rPr dirty="0"/>
              <a:t>   - Validate prescription (if required)</a:t>
            </a:r>
          </a:p>
          <a:p>
            <a:r>
              <a:rPr dirty="0"/>
              <a:t>   - Calculate total and generate receipt</a:t>
            </a:r>
          </a:p>
          <a:p>
            <a:endParaRPr dirty="0"/>
          </a:p>
          <a:p>
            <a:r>
              <a:rPr dirty="0"/>
              <a:t>2. Add / Update Product</a:t>
            </a:r>
          </a:p>
          <a:p>
            <a:r>
              <a:rPr dirty="0"/>
              <a:t>   - Enter medicine details</a:t>
            </a:r>
          </a:p>
          <a:p>
            <a:r>
              <a:rPr dirty="0"/>
              <a:t>   - Set price and expiry date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3C926-6F05-4C62-B93B-17EB15EB2550}"/>
              </a:ext>
            </a:extLst>
          </p:cNvPr>
          <p:cNvSpPr txBox="1"/>
          <p:nvPr/>
        </p:nvSpPr>
        <p:spPr>
          <a:xfrm>
            <a:off x="999606" y="1534249"/>
            <a:ext cx="697421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Continuation of (10% High-Level Use Cases</a:t>
            </a:r>
            <a:r>
              <a:rPr lang="en-US" sz="2400" dirty="0"/>
              <a:t>)</a:t>
            </a:r>
          </a:p>
          <a:p>
            <a:endParaRPr lang="en-US" sz="2400" b="1" u="sng" dirty="0"/>
          </a:p>
          <a:p>
            <a:r>
              <a:rPr lang="en-US" dirty="0"/>
              <a:t>3. Manage Inventory</a:t>
            </a:r>
          </a:p>
          <a:p>
            <a:r>
              <a:rPr lang="en-US" dirty="0"/>
              <a:t>   - Track stock levels</a:t>
            </a:r>
          </a:p>
          <a:p>
            <a:r>
              <a:rPr lang="en-US" dirty="0"/>
              <a:t>   - Alert low stock</a:t>
            </a:r>
          </a:p>
          <a:p>
            <a:endParaRPr lang="en-US" dirty="0"/>
          </a:p>
          <a:p>
            <a:r>
              <a:rPr lang="en-US" dirty="0"/>
              <a:t>4. Generate Sales Report</a:t>
            </a:r>
          </a:p>
          <a:p>
            <a:r>
              <a:rPr lang="en-US" dirty="0"/>
              <a:t>   - Daily / Weekly summaries</a:t>
            </a:r>
          </a:p>
          <a:p>
            <a:endParaRPr lang="en-US" dirty="0"/>
          </a:p>
          <a:p>
            <a:r>
              <a:rPr lang="en-US" dirty="0"/>
              <a:t>5. Manage Suppliers / Orders</a:t>
            </a:r>
          </a:p>
          <a:p>
            <a:r>
              <a:rPr lang="en-US" dirty="0"/>
              <a:t>  - Record and track medicine orders from suppliers</a:t>
            </a:r>
          </a:p>
          <a:p>
            <a:r>
              <a:rPr lang="en-US" dirty="0"/>
              <a:t>  - </a:t>
            </a:r>
            <a:r>
              <a:rPr lang="en-GB" dirty="0"/>
              <a:t>Update inventory upon delivery</a:t>
            </a:r>
            <a:endParaRPr lang="en-US" dirty="0"/>
          </a:p>
          <a:p>
            <a:r>
              <a:rPr lang="en-US" dirty="0"/>
              <a:t>  - </a:t>
            </a:r>
            <a:r>
              <a:rPr lang="en-GB" dirty="0"/>
              <a:t>Prevent stockouts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1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Barcode scanning support</a:t>
            </a:r>
          </a:p>
          <a:p>
            <a:r>
              <a:rPr dirty="0"/>
              <a:t> Expiry date validation before sale</a:t>
            </a:r>
          </a:p>
          <a:p>
            <a:r>
              <a:rPr dirty="0"/>
              <a:t> Real-time stock deduction</a:t>
            </a:r>
          </a:p>
          <a:p>
            <a:r>
              <a:rPr dirty="0"/>
              <a:t> Role-based authentication</a:t>
            </a:r>
          </a:p>
          <a:p>
            <a:r>
              <a:rPr dirty="0"/>
              <a:t> Automatic receipt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Performance:</a:t>
            </a:r>
            <a:r>
              <a:rPr dirty="0"/>
              <a:t> Sale completes within 3 seconds</a:t>
            </a:r>
          </a:p>
          <a:p>
            <a:r>
              <a:rPr b="1" dirty="0"/>
              <a:t>Security</a:t>
            </a:r>
            <a:r>
              <a:rPr dirty="0"/>
              <a:t>: Password-protected login</a:t>
            </a:r>
          </a:p>
          <a:p>
            <a:r>
              <a:rPr b="1" dirty="0"/>
              <a:t>Reliability</a:t>
            </a:r>
            <a:r>
              <a:rPr dirty="0"/>
              <a:t>: No data loss during transactions</a:t>
            </a:r>
          </a:p>
          <a:p>
            <a:r>
              <a:rPr b="1" dirty="0"/>
              <a:t>Usability</a:t>
            </a:r>
            <a:r>
              <a:rPr dirty="0"/>
              <a:t>: Simple and intuitive interface</a:t>
            </a:r>
          </a:p>
          <a:p>
            <a:r>
              <a:rPr b="1" dirty="0"/>
              <a:t>Maintainability</a:t>
            </a:r>
            <a:r>
              <a:rPr dirty="0"/>
              <a:t>: Modular layered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List &amp; Mitigation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E6E9E1F-40A6-46F5-9765-18BF5FCCF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825553"/>
              </p:ext>
            </p:extLst>
          </p:nvPr>
        </p:nvGraphicFramePr>
        <p:xfrm>
          <a:off x="827088" y="1671146"/>
          <a:ext cx="6961078" cy="4046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539">
                  <a:extLst>
                    <a:ext uri="{9D8B030D-6E8A-4147-A177-3AD203B41FA5}">
                      <a16:colId xmlns:a16="http://schemas.microsoft.com/office/drawing/2014/main" val="1553813124"/>
                    </a:ext>
                  </a:extLst>
                </a:gridCol>
                <a:gridCol w="3480539">
                  <a:extLst>
                    <a:ext uri="{9D8B030D-6E8A-4147-A177-3AD203B41FA5}">
                      <a16:colId xmlns:a16="http://schemas.microsoft.com/office/drawing/2014/main" val="2268136517"/>
                    </a:ext>
                  </a:extLst>
                </a:gridCol>
              </a:tblGrid>
              <a:tr h="481882">
                <a:tc>
                  <a:txBody>
                    <a:bodyPr/>
                    <a:lstStyle/>
                    <a:p>
                      <a:r>
                        <a:rPr lang="en-US" u="sng" dirty="0"/>
                        <a:t>Risk List</a:t>
                      </a:r>
                      <a:endParaRPr lang="en-ZM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Mitigation</a:t>
                      </a:r>
                      <a:endParaRPr lang="en-ZM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45085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• Incorrect architecture choice</a:t>
                      </a:r>
                      <a:endParaRPr lang="en-ZM" dirty="0"/>
                    </a:p>
                    <a:p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Validate architecture early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315785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r>
                        <a:rPr lang="en-US" dirty="0"/>
                        <a:t>• Database design flaws</a:t>
                      </a:r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Refine domain model in Elaboration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524632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r>
                        <a:rPr lang="en-US" dirty="0"/>
                        <a:t>• Time mismanagement</a:t>
                      </a:r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Follow structured iteration plan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5954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Plan (Unified 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Inception (Week 1–2</a:t>
            </a:r>
            <a:r>
              <a:rPr dirty="0"/>
              <a:t>): Vision, feasibility, risk assessment</a:t>
            </a:r>
          </a:p>
          <a:p>
            <a:r>
              <a:rPr b="1" dirty="0"/>
              <a:t>Elaboration (Week 3–8): </a:t>
            </a:r>
            <a:r>
              <a:rPr dirty="0"/>
              <a:t>Detailed use cases</a:t>
            </a:r>
            <a:r>
              <a:rPr lang="en-US" dirty="0"/>
              <a:t> modelling</a:t>
            </a:r>
            <a:r>
              <a:rPr dirty="0"/>
              <a:t> &amp; </a:t>
            </a:r>
            <a:r>
              <a:rPr lang="en-GB" dirty="0"/>
              <a:t>System Architecture Design</a:t>
            </a:r>
          </a:p>
          <a:p>
            <a:r>
              <a:rPr b="1" dirty="0"/>
              <a:t>Construction (Week 9–12): </a:t>
            </a:r>
            <a:r>
              <a:rPr dirty="0"/>
              <a:t>Implementation &amp; testing</a:t>
            </a:r>
          </a:p>
          <a:p>
            <a:r>
              <a:rPr b="1" dirty="0"/>
              <a:t>Transition (Week 13–15): </a:t>
            </a:r>
            <a:r>
              <a:rPr dirty="0"/>
              <a:t>Beta testing &amp; final deployment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161</TotalTime>
  <Words>408</Words>
  <Application>Microsoft Office PowerPoint</Application>
  <PresentationFormat>On-screen Show (4:3)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  Group 16 Pharmacy Point of Sale (POS) System</vt:lpstr>
      <vt:lpstr>Vision</vt:lpstr>
      <vt:lpstr>Problem Statement</vt:lpstr>
      <vt:lpstr>Business Case</vt:lpstr>
      <vt:lpstr>Stakeholders</vt:lpstr>
      <vt:lpstr>10% High-Level Use Cases</vt:lpstr>
      <vt:lpstr>PowerPoint Presentation</vt:lpstr>
      <vt:lpstr>Key Architectural Requirements</vt:lpstr>
      <vt:lpstr>Core Non-Functional Requirements</vt:lpstr>
      <vt:lpstr>Risk List &amp; Mitigation</vt:lpstr>
      <vt:lpstr>Iteration Plan (Unified Process)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Point of Sale (POS) System</dc:title>
  <dc:subject/>
  <dc:creator>Blessing</dc:creator>
  <cp:keywords/>
  <dc:description>generated using python-pptx</dc:description>
  <cp:lastModifiedBy>Joshua Kay</cp:lastModifiedBy>
  <cp:revision>16</cp:revision>
  <dcterms:created xsi:type="dcterms:W3CDTF">2013-01-27T09:14:16Z</dcterms:created>
  <dcterms:modified xsi:type="dcterms:W3CDTF">2026-02-26T11:48:01Z</dcterms:modified>
  <cp:category/>
</cp:coreProperties>
</file>